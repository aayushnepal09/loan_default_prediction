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9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9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89E2C"/>
                </a:solidFill>
                <a:latin typeface="Calibri"/>
              </a:rPr>
              <a:t>EAS 587  -  Phase 4  -  Spring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Lending Club</a:t>
            </a:r>
          </a:p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Loan Default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ADCFC"/>
                </a:solidFill>
                <a:latin typeface="Calibri"/>
              </a:rPr>
              <a:t>Same use case, four implementations:</a:t>
            </a:r>
          </a:p>
          <a:p>
            <a:pPr algn="l"/>
            <a:r>
              <a:rPr sz="2000" b="0" i="1">
                <a:solidFill>
                  <a:srgbClr val="CADCFC"/>
                </a:solidFill>
                <a:latin typeface="Calibri"/>
              </a:rPr>
              <a:t>pandas  -&gt;  scikit-learn  -&gt;  Spark + MCP  -&gt;  conversational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9E2C"/>
                </a:solidFill>
                <a:latin typeface="Calibri"/>
              </a:rPr>
              <a:t>Team  -  404 Team Not Found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Aayush Nepal  |  Junwei Zhang  |  Lusi Zhang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17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9FB3D1"/>
                </a:solidFill>
                <a:latin typeface="Calibri"/>
              </a:rPr>
              <a:t>Final presentations: week of May 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3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E3D70"/>
                </a:solidFill>
                <a:latin typeface="Calibri"/>
              </a:rPr>
              <a:t>The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56075"/>
                </a:solidFill>
                <a:latin typeface="Calibri"/>
              </a:rPr>
              <a:t>A peer-to-peer lender's question, restated as a binary classification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669280" cy="420624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3D70"/>
                </a:solidFill>
                <a:latin typeface="Calibri"/>
              </a:rPr>
              <a:t>The lender's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1A2440"/>
                </a:solidFill>
                <a:latin typeface="Calibri"/>
              </a:rPr>
              <a:t>"Given a loan application, what is the probability</a:t>
            </a:r>
          </a:p>
          <a:p>
            <a:pPr algn="l"/>
            <a:r>
              <a:rPr sz="2000" b="0" i="1">
                <a:solidFill>
                  <a:srgbClr val="1A2440"/>
                </a:solidFill>
                <a:latin typeface="Calibri"/>
              </a:rPr>
              <a:t>this borrower will charge off rather than fully repay?"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4903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3D70"/>
                </a:solidFill>
                <a:latin typeface="Calibri"/>
              </a:rPr>
              <a:t>Decisions the model supports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114800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2440"/>
                </a:solidFill>
                <a:latin typeface="Calibri"/>
              </a:rPr>
              <a:t>-  Approve / decline at origination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43984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2440"/>
                </a:solidFill>
                <a:latin typeface="Calibri"/>
              </a:rPr>
              <a:t>-  Risk-based pricing (interest rate)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773168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2440"/>
                </a:solidFill>
                <a:latin typeface="Calibri"/>
              </a:rPr>
              <a:t>-  Portfolio-level default rate forecast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102352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2440"/>
                </a:solidFill>
                <a:latin typeface="Calibri"/>
              </a:rPr>
              <a:t>-  Manual-review queue for borderline loans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691640"/>
            <a:ext cx="50292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856232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0E3D70"/>
                </a:solidFill>
                <a:latin typeface="Calibri"/>
              </a:rPr>
              <a:t>314,212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46888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075"/>
                </a:solidFill>
                <a:latin typeface="Calibri"/>
              </a:rPr>
              <a:t>completed loans 2017 (test set)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108960"/>
            <a:ext cx="50292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273552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D73027"/>
                </a:solidFill>
                <a:latin typeface="Calibri"/>
              </a:rPr>
              <a:t>21.0%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88620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075"/>
                </a:solidFill>
                <a:latin typeface="Calibri"/>
              </a:rPr>
              <a:t>actual charge-off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4526280"/>
            <a:ext cx="50292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690872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E89E2C"/>
                </a:solidFill>
                <a:latin typeface="Calibri"/>
              </a:rPr>
              <a:t>~4 to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30352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075"/>
                </a:solidFill>
                <a:latin typeface="Calibri"/>
              </a:rPr>
              <a:t>fully paid : default class imbalance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471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075"/>
                </a:solidFill>
                <a:latin typeface="Calibri"/>
              </a:rPr>
              <a:t>EAS 587 Phase 4  -  Lending Club Loan Default 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54710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075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3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E3D70"/>
                </a:solidFill>
                <a:latin typeface="Calibri"/>
              </a:rPr>
              <a:t>Project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56075"/>
                </a:solidFill>
                <a:latin typeface="Calibri"/>
              </a:rPr>
              <a:t>One question, four artifacts of increasing scale and reach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47120" cy="53184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6075"/>
                </a:solidFill>
                <a:latin typeface="Calibri"/>
              </a:rPr>
              <a:t>Phases 1+2 received perfect scores; we retained the time-based split, leakage discipline, and 8-stage pipeline and built on top.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075"/>
                </a:solidFill>
                <a:latin typeface="Calibri"/>
              </a:rPr>
              <a:t>EAS 587 Phase 4  -  Lending Club Loan Default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4710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075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3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64240" y="29260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89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E3D70"/>
                </a:solidFill>
                <a:latin typeface="Calibri"/>
              </a:rPr>
              <a:t>Data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56075"/>
                </a:solidFill>
                <a:latin typeface="Calibri"/>
              </a:rPr>
              <a:t>Filter, define the target, and split with leakage discipline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703320" cy="310896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64008" cy="3108960"/>
          </a:xfrm>
          <a:prstGeom prst="rect">
            <a:avLst/>
          </a:prstGeom>
          <a:solidFill>
            <a:srgbClr val="0E3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3D70"/>
                </a:solidFill>
                <a:latin typeface="Calibri"/>
              </a:rPr>
              <a:t>FILTER  -  2014 to 2017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440"/>
                </a:solidFill>
                <a:latin typeface="Calibri"/>
              </a:rPr>
              <a:t>-  Pre-2014 issuance volume too sparse to be representative.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440"/>
                </a:solidFill>
                <a:latin typeface="Calibri"/>
              </a:rPr>
              <a:t>-  Post-2017 loans not matured: charge-off labels unreliable.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440"/>
                </a:solidFill>
                <a:latin typeface="Calibri"/>
              </a:rPr>
              <a:t>-  ~1.2M completed loans after filter, sorted chronologically.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399" y="1691640"/>
            <a:ext cx="3703320" cy="310896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399" y="1691640"/>
            <a:ext cx="64008" cy="3108960"/>
          </a:xfrm>
          <a:prstGeom prst="rect">
            <a:avLst/>
          </a:prstGeom>
          <a:solidFill>
            <a:srgbClr val="0E3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1999" y="18288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3D70"/>
                </a:solidFill>
                <a:latin typeface="Calibri"/>
              </a:rPr>
              <a:t>TARGET  -  charged_off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28600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440"/>
                </a:solidFill>
                <a:latin typeface="Calibri"/>
              </a:rPr>
              <a:t>-  Keep only loans with terminal status (Fully Paid / Charged Off).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283464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440"/>
                </a:solidFill>
                <a:latin typeface="Calibri"/>
              </a:rPr>
              <a:t>-  Class balance: ~80% paid / 20% default.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338328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440"/>
                </a:solidFill>
                <a:latin typeface="Calibri"/>
              </a:rPr>
              <a:t>-  No SMOTE or class re-weighting -- model handles imbalance natively.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9" y="1691640"/>
            <a:ext cx="3703320" cy="310896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59" y="1691640"/>
            <a:ext cx="64008" cy="3108960"/>
          </a:xfrm>
          <a:prstGeom prst="rect">
            <a:avLst/>
          </a:prstGeom>
          <a:solidFill>
            <a:srgbClr val="0E3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9" y="18288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3D70"/>
                </a:solidFill>
                <a:latin typeface="Calibri"/>
              </a:rPr>
              <a:t>SPLIT  -  time-based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228600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440"/>
                </a:solidFill>
                <a:latin typeface="Calibri"/>
              </a:rPr>
              <a:t>-  Train: first 80% of 2014 to 2016 by issue_d.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283464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440"/>
                </a:solidFill>
                <a:latin typeface="Calibri"/>
              </a:rPr>
              <a:t>-  Val:   last 20% of 2014 to 2016.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338328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440"/>
                </a:solidFill>
                <a:latin typeface="Calibri"/>
              </a:rPr>
              <a:t>-  Test:  ALL of 2017 (held out, ~314k loans).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59" y="393192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440"/>
                </a:solidFill>
                <a:latin typeface="Calibri"/>
              </a:rPr>
              <a:t>-  Random splits would leak the macro environment.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29200"/>
            <a:ext cx="11091672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89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2120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3D70"/>
                </a:solidFill>
                <a:latin typeface="Calibri"/>
              </a:rPr>
              <a:t>Leakage discipline -- our most defensible Phase 1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62356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440"/>
                </a:solidFill>
                <a:latin typeface="Calibri"/>
              </a:rPr>
              <a:t>We dropped 21 post-loan columns that only get values AFTER the outcome is known: total_pymnt*, recoveries, last_pymnt_*, last_fico_range_*, hardship_flag, and full settlement details. Most public Lending Club notebooks accidentally train on these.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471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075"/>
                </a:solidFill>
                <a:latin typeface="Calibri"/>
              </a:rPr>
              <a:t>EAS 587 Phase 4  -  Lending Club Loan Default Prediction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54710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075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3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64240" y="29260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89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E3D70"/>
                </a:solidFill>
                <a:latin typeface="Calibri"/>
              </a:rPr>
              <a:t>8-stage preprocessing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56075"/>
                </a:solidFill>
                <a:latin typeface="Calibri"/>
              </a:rPr>
              <a:t>Custom scikit-learn transformers, fit on train only, applied identically to val + test</a:t>
            </a:r>
          </a:p>
        </p:txBody>
      </p:sp>
      <p:pic>
        <p:nvPicPr>
          <p:cNvPr id="6" name="Picture 5" descr="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11430000" cy="418631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029200"/>
            <a:ext cx="5532120" cy="132588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1663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3D70"/>
                </a:solidFill>
                <a:latin typeface="Calibri"/>
              </a:rPr>
              <a:t>Engineered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32120"/>
            <a:ext cx="5212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2440"/>
                </a:solidFill>
                <a:latin typeface="Calibri"/>
              </a:rPr>
              <a:t>loan_to_income, monthly_payment_to_income, delinq_rate,</a:t>
            </a:r>
          </a:p>
          <a:p>
            <a:pPr algn="l"/>
            <a:r>
              <a:rPr sz="1150" b="0" i="0">
                <a:solidFill>
                  <a:srgbClr val="1A2440"/>
                </a:solidFill>
                <a:latin typeface="Calibri"/>
              </a:rPr>
              <a:t>credit_history_months, issue_year, issue_month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5029200"/>
            <a:ext cx="5532120" cy="132588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51663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3D70"/>
                </a:solidFill>
                <a:latin typeface="Calibri"/>
              </a:rPr>
              <a:t>Macro overlay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5532120"/>
            <a:ext cx="5212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2440"/>
                </a:solidFill>
                <a:latin typeface="Calibri"/>
              </a:rPr>
              <a:t>FRED UNRATE merged on issue (year, month).</a:t>
            </a:r>
          </a:p>
          <a:p>
            <a:pPr algn="l"/>
            <a:r>
              <a:rPr sz="1150" b="0" i="0">
                <a:solidFill>
                  <a:srgbClr val="1A2440"/>
                </a:solidFill>
                <a:latin typeface="Calibri"/>
              </a:rPr>
              <a:t>Secondary data source flagged in the rubric.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471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075"/>
                </a:solidFill>
                <a:latin typeface="Calibri"/>
              </a:rPr>
              <a:t>EAS 587 Phase 4  -  Lending Club Loan Default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54710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075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3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64240" y="29260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89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E3D70"/>
                </a:solidFill>
                <a:latin typeface="Calibri"/>
              </a:rPr>
              <a:t>Model bake-off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56075"/>
                </a:solidFill>
                <a:latin typeface="Calibri"/>
              </a:rPr>
              <a:t>Four algorithms, 50 Optuna trials each, MLflow tracked, validated on the 2014-16 hold-out</a:t>
            </a:r>
          </a:p>
        </p:txBody>
      </p:sp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6949440" cy="380065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80960" y="1691640"/>
            <a:ext cx="4114800" cy="4023360"/>
          </a:xfrm>
          <a:prstGeom prst="roundRect">
            <a:avLst>
              <a:gd name="adj" fmla="val 5000"/>
            </a:avLst>
          </a:prstGeom>
          <a:solidFill>
            <a:srgbClr val="0E3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87451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9E2C"/>
                </a:solidFill>
                <a:latin typeface="Calibri"/>
              </a:rPr>
              <a:t>WINNER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2860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XGBoost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926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Why it won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29184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-  Highest validation AUC-ROC (0.7238).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0332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-  Highest KS statistic (0.325).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411480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-  5x faster than HGB at fit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52628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-  Native pred_contribs (SHAP) for explainability.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943600"/>
            <a:ext cx="11091672" cy="50292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01675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440"/>
                </a:solidFill>
                <a:latin typeface="Calibri"/>
              </a:rPr>
              <a:t>Tuning: Optuna TPE, 50 trials per model, optimizing val AUC-ROC. All 200+ trials logged to MLflow at models/mlruns/.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471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075"/>
                </a:solidFill>
                <a:latin typeface="Calibri"/>
              </a:rPr>
              <a:t>EAS 587 Phase 4  -  Lending Club Loan Default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54710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075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3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64240" y="29260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89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E3D70"/>
                </a:solidFill>
                <a:latin typeface="Calibri"/>
              </a:rPr>
              <a:t>Hold-out test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56075"/>
                </a:solidFill>
                <a:latin typeface="Calibri"/>
              </a:rPr>
              <a:t>All 314,212 loans issued in 2017 -- never seen during training or tuning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6974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55648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0E3D70"/>
                </a:solidFill>
                <a:latin typeface="Calibri"/>
              </a:rPr>
              <a:t>0.726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556075"/>
                </a:solidFill>
                <a:latin typeface="Calibri"/>
              </a:rPr>
              <a:t>AUC-ROC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1645920"/>
            <a:ext cx="26974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755648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0E3D70"/>
                </a:solidFill>
                <a:latin typeface="Calibri"/>
              </a:rPr>
              <a:t>0.410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37744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556075"/>
                </a:solidFill>
                <a:latin typeface="Calibri"/>
              </a:rPr>
              <a:t>AUC-PR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3" y="1645920"/>
            <a:ext cx="26974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755648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E89E2C"/>
                </a:solidFill>
                <a:latin typeface="Calibri"/>
              </a:rPr>
              <a:t>0.328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37744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556075"/>
                </a:solidFill>
                <a:latin typeface="Calibri"/>
              </a:rPr>
              <a:t>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34856" y="1645920"/>
            <a:ext cx="26974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C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2016" y="1755648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D73027"/>
                </a:solidFill>
                <a:latin typeface="Calibri"/>
              </a:rPr>
              <a:t>67.3%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2016" y="237744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556075"/>
                </a:solidFill>
                <a:latin typeface="Calibri"/>
              </a:rPr>
              <a:t>Recall on defaults</a:t>
            </a:r>
          </a:p>
          <a:p>
            <a:pPr algn="ctr"/>
            <a:r>
              <a:rPr sz="1150" b="0" i="0">
                <a:solidFill>
                  <a:srgbClr val="556075"/>
                </a:solidFill>
                <a:latin typeface="Calibri"/>
              </a:rPr>
              <a:t>(at Youden threshold)</a:t>
            </a:r>
          </a:p>
        </p:txBody>
      </p:sp>
      <p:pic>
        <p:nvPicPr>
          <p:cNvPr id="18" name="Picture 17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3970440" cy="3291840"/>
          </a:xfrm>
          <a:prstGeom prst="rect">
            <a:avLst/>
          </a:prstGeom>
        </p:spPr>
      </p:pic>
      <p:pic>
        <p:nvPicPr>
          <p:cNvPr id="19" name="Picture 18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017520"/>
            <a:ext cx="3936114" cy="32918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5471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075"/>
                </a:solidFill>
                <a:latin typeface="Calibri"/>
              </a:rPr>
              <a:t>EAS 587 Phase 4  -  Lending Club Loan Default 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54710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075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3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64240" y="29260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89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E3D70"/>
                </a:solidFill>
                <a:latin typeface="Calibri"/>
              </a:rPr>
              <a:t>Scaling on Spark + Delta 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56075"/>
                </a:solidFill>
                <a:latin typeface="Calibri"/>
              </a:rPr>
              <a:t>Same data, same target, rebuilt on Databricks using the medallion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657600" cy="301752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657600" cy="365760"/>
          </a:xfrm>
          <a:prstGeom prst="rect">
            <a:avLst/>
          </a:prstGeom>
          <a:solidFill>
            <a:srgbClr val="CD7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BRONZE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3D70"/>
                </a:solidFill>
                <a:latin typeface="Consolas"/>
              </a:rPr>
              <a:t>bronze_loans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440"/>
                </a:solidFill>
                <a:latin typeface="Calibri"/>
              </a:rPr>
              <a:t>Kaggle download landed as-is.</a:t>
            </a:r>
          </a:p>
          <a:p>
            <a:pPr algn="l"/>
            <a:r>
              <a:rPr sz="1200" b="0" i="0">
                <a:solidFill>
                  <a:srgbClr val="1A2440"/>
                </a:solidFill>
                <a:latin typeface="Calibri"/>
              </a:rPr>
              <a:t>Filtered 2014-2017.</a:t>
            </a:r>
          </a:p>
          <a:p>
            <a:pPr algn="l"/>
            <a:r>
              <a:rPr sz="1200" b="0" i="0">
                <a:solidFill>
                  <a:srgbClr val="1A2440"/>
                </a:solidFill>
                <a:latin typeface="Calibri"/>
              </a:rPr>
              <a:t>Written to Unity Catalog volume.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691640"/>
            <a:ext cx="3657600" cy="301752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1691640"/>
            <a:ext cx="3657600" cy="365760"/>
          </a:xfrm>
          <a:prstGeom prst="rect">
            <a:avLst/>
          </a:prstGeom>
          <a:solidFill>
            <a:srgbClr val="A0A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7556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SILVER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1945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3D70"/>
                </a:solidFill>
                <a:latin typeface="Consolas"/>
              </a:rPr>
              <a:t>silver_loans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69748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440"/>
                </a:solidFill>
                <a:latin typeface="Calibri"/>
              </a:rPr>
              <a:t>Cleaned and type-fixed.</a:t>
            </a:r>
          </a:p>
          <a:p>
            <a:pPr algn="l"/>
            <a:r>
              <a:rPr sz="1200" b="0" i="0">
                <a:solidFill>
                  <a:srgbClr val="1A2440"/>
                </a:solidFill>
                <a:latin typeface="Calibri"/>
              </a:rPr>
              <a:t>Leakage columns dropped.</a:t>
            </a:r>
          </a:p>
          <a:p>
            <a:pPr algn="l"/>
            <a:r>
              <a:rPr sz="1200" b="0" i="0">
                <a:solidFill>
                  <a:srgbClr val="1A2440"/>
                </a:solidFill>
                <a:latin typeface="Calibri"/>
              </a:rPr>
              <a:t>Schema enforced.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691640"/>
            <a:ext cx="3657600" cy="3017520"/>
          </a:xfrm>
          <a:prstGeom prst="roundRect">
            <a:avLst>
              <a:gd name="adj" fmla="val 5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3" y="1691640"/>
            <a:ext cx="3657600" cy="365760"/>
          </a:xfrm>
          <a:prstGeom prst="rect">
            <a:avLst/>
          </a:prstGeom>
          <a:solidFill>
            <a:srgbClr val="C9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3" y="17556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3" y="21945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3D70"/>
                </a:solidFill>
                <a:latin typeface="Consolas"/>
              </a:rPr>
              <a:t>gold_loans_train / val /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3" y="269748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440"/>
                </a:solidFill>
                <a:latin typeface="Calibri"/>
              </a:rPr>
              <a:t>Time-based split.</a:t>
            </a:r>
          </a:p>
          <a:p>
            <a:pPr algn="l"/>
            <a:r>
              <a:rPr sz="1200" b="0" i="0">
                <a:solidFill>
                  <a:srgbClr val="1A2440"/>
                </a:solidFill>
                <a:latin typeface="Calibri"/>
              </a:rPr>
              <a:t>Stratified samples for train/val.</a:t>
            </a:r>
          </a:p>
          <a:p>
            <a:pPr algn="l"/>
            <a:r>
              <a:rPr sz="1200" b="0" i="0">
                <a:solidFill>
                  <a:srgbClr val="1A2440"/>
                </a:solidFill>
                <a:latin typeface="Calibri"/>
              </a:rPr>
              <a:t>Full 2017 test set retained.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83480"/>
            <a:ext cx="11091672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E3D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3D70"/>
                </a:solidFill>
                <a:latin typeface="Calibri"/>
              </a:rPr>
              <a:t>Why rebuild on Spark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2440"/>
                </a:solidFill>
                <a:latin typeface="Calibri"/>
              </a:rPr>
              <a:t>Phase 1+2 ran in pandas on a laptop and would not survive the full 2.9M-row Lending Club archive. Bronze-&gt;Silver-&gt;Gold gives us reproducible, versioned tables and lets us re-run the whole pipeline on the cluster without touching local CSVs.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471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075"/>
                </a:solidFill>
                <a:latin typeface="Calibri"/>
              </a:rPr>
              <a:t>EAS 587 Phase 4  -  Lending Club Loan Default 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54710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075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3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064240" y="29260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89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E3D70"/>
                </a:solidFill>
                <a:latin typeface="Calibri"/>
              </a:rPr>
              <a:t>Macro overlay + MCP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56075"/>
                </a:solidFill>
                <a:latin typeface="Calibri"/>
              </a:rPr>
              <a:t>Two ideas borrowed from outside the loan dataset itself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532120" cy="4572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64008" cy="4572000"/>
          </a:xfrm>
          <a:prstGeom prst="rect">
            <a:avLst/>
          </a:prstGeom>
          <a:solidFill>
            <a:srgbClr val="E89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3D70"/>
                </a:solidFill>
                <a:latin typeface="Calibri"/>
              </a:rPr>
              <a:t>Secondary data source: FRED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56075"/>
                </a:solidFill>
                <a:latin typeface="Calibri"/>
              </a:rPr>
              <a:t>U.S. monthly unemployment (UNRATE)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A2440"/>
                </a:solidFill>
                <a:latin typeface="Calibri"/>
              </a:rPr>
              <a:t>-  Pulled at fit-time via pandas-datareader.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A2440"/>
                </a:solidFill>
                <a:latin typeface="Calibri"/>
              </a:rPr>
              <a:t>-  Joined on (issue_year, issue_month) per loan.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A2440"/>
                </a:solidFill>
                <a:latin typeface="Calibri"/>
              </a:rPr>
              <a:t>-  Captures macro pressure that borrower features cannot.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A2440"/>
                </a:solidFill>
                <a:latin typeface="Calibri"/>
              </a:rPr>
              <a:t>-  Falls back to 5.0% if FRED is unreachable -- prevents pipeline crash on offline runs.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23560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56075"/>
                </a:solidFill>
                <a:latin typeface="Calibri"/>
              </a:rPr>
              <a:t>Why it matters: 2014-2017 spans a falling-unemployment regime; the model learns that loans issued during weaker labor markets default more often.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91640"/>
            <a:ext cx="5532120" cy="4572000"/>
          </a:xfrm>
          <a:prstGeom prst="roundRect">
            <a:avLst>
              <a:gd name="adj" fmla="val 4000"/>
            </a:avLst>
          </a:prstGeom>
          <a:solidFill>
            <a:srgbClr val="0E3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828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9E2C"/>
                </a:solidFill>
                <a:latin typeface="Calibri"/>
              </a:rPr>
              <a:t>MCP deployment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402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FastMCP + Claude Desktop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74320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-  Loads best_model.pkl and preprocessing_pipeline.pkl on startup.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29184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-  Exposes predict_loan_default tool over stdio MCP.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84048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-  Validates inputs, fills 24 secondary defaults, runs the same transform path as training.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38912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-  Returns probability + risk tier + decision recommendation.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93776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-  Demonstrated live in the Phase 4 demo.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471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075"/>
                </a:solidFill>
                <a:latin typeface="Calibri"/>
              </a:rPr>
              <a:t>EAS 587 Phase 4  -  Lending Club Loan Default Prediction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54710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075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9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064240" y="29260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89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89E2C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Streamlit predictor</a:t>
            </a:r>
          </a:p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+ MCP cherry-on-top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10896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1B3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3337560"/>
            <a:ext cx="640080" cy="640080"/>
          </a:xfrm>
          <a:prstGeom prst="ellipse">
            <a:avLst/>
          </a:prstGeom>
          <a:solidFill>
            <a:srgbClr val="E89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1294D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310128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Pick a preset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749039"/>
            <a:ext cx="4297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Sidebar: Safe / Borderline / Risky profiles for instant fill.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10896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1B3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59" y="3337560"/>
            <a:ext cx="640080" cy="640080"/>
          </a:xfrm>
          <a:prstGeom prst="ellipse">
            <a:avLst/>
          </a:prstGeom>
          <a:solidFill>
            <a:srgbClr val="E89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1294D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310128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Predict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749039"/>
            <a:ext cx="4297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Plotly gauge + 5-tier risk badge + decision recommendation.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1B3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4983480"/>
            <a:ext cx="640080" cy="640080"/>
          </a:xfrm>
          <a:prstGeom prst="ellipse">
            <a:avLst/>
          </a:prstGeom>
          <a:solidFill>
            <a:srgbClr val="E89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1294D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956048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Why this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394960"/>
            <a:ext cx="4297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Top 8 SHAP contributions from XGBoost's native pred_contribs.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4754880"/>
            <a:ext cx="5532120" cy="1417320"/>
          </a:xfrm>
          <a:prstGeom prst="roundRect">
            <a:avLst>
              <a:gd name="adj" fmla="val 4000"/>
            </a:avLst>
          </a:prstGeom>
          <a:solidFill>
            <a:srgbClr val="1B3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37959" y="4983480"/>
            <a:ext cx="640080" cy="640080"/>
          </a:xfrm>
          <a:prstGeom prst="ellipse">
            <a:avLst/>
          </a:prstGeom>
          <a:solidFill>
            <a:srgbClr val="E89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1294D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956048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Same model, conversational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394960"/>
            <a:ext cx="4297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Switch to Claude Desktop -- describe a loan in plain English, MCP runs the same pipeline.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A8EAE"/>
                </a:solidFill>
                <a:latin typeface="Calibri"/>
              </a:rPr>
              <a:t>If the live demo fails: Streamlit screenshots in the appendix; MCP can be invoked as a backup prompt.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3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E3D70"/>
                </a:solidFill>
                <a:latin typeface="Calibri"/>
              </a:rPr>
              <a:t>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56075"/>
                </a:solidFill>
                <a:latin typeface="Calibri"/>
              </a:rPr>
              <a:t>What the model learned -- and what that says about the lending market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5752655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691640"/>
            <a:ext cx="4937760" cy="109728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1691640"/>
            <a:ext cx="64008" cy="1097280"/>
          </a:xfrm>
          <a:prstGeom prst="rect">
            <a:avLst/>
          </a:prstGeom>
          <a:solidFill>
            <a:srgbClr val="E89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7830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3D70"/>
                </a:solidFill>
                <a:latin typeface="Calibri"/>
              </a:rPr>
              <a:t>Sub-grade dominates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10312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440"/>
                </a:solidFill>
                <a:latin typeface="Calibri"/>
              </a:rPr>
              <a:t>sub_grade carries ~3x more gain than the next feature. Lending Club's own grade letter is already a near-sufficient summary of borrower risk -- our pipeline mostly refines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862072"/>
            <a:ext cx="4937760" cy="109728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0" y="2862072"/>
            <a:ext cx="64008" cy="1097280"/>
          </a:xfrm>
          <a:prstGeom prst="rect">
            <a:avLst/>
          </a:prstGeom>
          <a:solidFill>
            <a:srgbClr val="E89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953512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3D70"/>
                </a:solidFill>
                <a:latin typeface="Calibri"/>
              </a:rPr>
              <a:t>Term length is a hidden risk lever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273552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440"/>
                </a:solidFill>
                <a:latin typeface="Calibri"/>
              </a:rPr>
              <a:t>Longer 60-month loans default substantially more often than 36-month loans at the same grade. The model picks this up without being told.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4032504"/>
            <a:ext cx="4937760" cy="109728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0" y="4032504"/>
            <a:ext cx="64008" cy="1097280"/>
          </a:xfrm>
          <a:prstGeom prst="rect">
            <a:avLst/>
          </a:prstGeom>
          <a:solidFill>
            <a:srgbClr val="E89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4123944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3D70"/>
                </a:solidFill>
                <a:latin typeface="Calibri"/>
              </a:rPr>
              <a:t>Macro context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443984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440"/>
                </a:solidFill>
                <a:latin typeface="Calibri"/>
              </a:rPr>
              <a:t>unemployment_rate (FRED) consistently appears in the top contributions. Removing it dropped val AUC by ~0.5 points -- secondary data earns its keep.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5202936"/>
            <a:ext cx="4937760" cy="109728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5202936"/>
            <a:ext cx="64008" cy="1097280"/>
          </a:xfrm>
          <a:prstGeom prst="rect">
            <a:avLst/>
          </a:prstGeom>
          <a:solidFill>
            <a:srgbClr val="E89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5294375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3D70"/>
                </a:solidFill>
                <a:latin typeface="Calibri"/>
              </a:rPr>
              <a:t>Renting &gt; owning, all else equal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5614416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2440"/>
                </a:solidFill>
                <a:latin typeface="Calibri"/>
              </a:rPr>
              <a:t>home_ownership = RENT pushes toward default; MORTGAGE pulls away. Likely a wealth proxy.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471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075"/>
                </a:solidFill>
                <a:latin typeface="Calibri"/>
              </a:rPr>
              <a:t>EAS 587 Phase 4  -  Lending Club Loan Default Prediction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54710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075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3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E3D70"/>
                </a:solidFill>
                <a:latin typeface="Calibri"/>
              </a:rPr>
              <a:t>Limitations +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56075"/>
                </a:solidFill>
                <a:latin typeface="Calibri"/>
              </a:rPr>
              <a:t>Honest about what we did NOT solve, and where this work goes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532120" cy="4572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64008" cy="4572000"/>
          </a:xfrm>
          <a:prstGeom prst="rect">
            <a:avLst/>
          </a:prstGeom>
          <a:solidFill>
            <a:srgbClr val="D73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3D70"/>
                </a:solidFill>
                <a:latin typeface="Calibri"/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440"/>
                </a:solidFill>
                <a:latin typeface="Calibri"/>
              </a:rPr>
              <a:t>-  Class imbalance left as-is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6075"/>
                </a:solidFill>
                <a:latin typeface="Calibri"/>
              </a:rPr>
              <a:t>We did not resample. Any deployment with a different operating cost-ratio needs threshold re-tuning.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440"/>
                </a:solidFill>
                <a:latin typeface="Calibri"/>
              </a:rPr>
              <a:t>-  Concept drift after 2017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11879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6075"/>
                </a:solidFill>
                <a:latin typeface="Calibri"/>
              </a:rPr>
              <a:t>Training cohort spans falling unemployment. Model is not validated on COVID-era loan books.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440"/>
                </a:solidFill>
                <a:latin typeface="Calibri"/>
              </a:rPr>
              <a:t>-  No fairness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6075"/>
                </a:solidFill>
                <a:latin typeface="Calibri"/>
              </a:rPr>
              <a:t>Lending data has well-documented protected-class disparities. Disparate-impact testing was out of scope.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16636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440"/>
                </a:solidFill>
                <a:latin typeface="Calibri"/>
              </a:rPr>
              <a:t>-  FICO-only credit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3212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6075"/>
                </a:solidFill>
                <a:latin typeface="Calibri"/>
              </a:rPr>
              <a:t>We use fico_range_low; richer bureau features would likely add lift but were absent from this dataset.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91640"/>
            <a:ext cx="5532120" cy="4572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691640"/>
            <a:ext cx="64008" cy="4572000"/>
          </a:xfrm>
          <a:prstGeom prst="rect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8288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3D70"/>
                </a:solidFill>
                <a:latin typeface="Calibri"/>
              </a:rPr>
              <a:t>What's 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8600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440"/>
                </a:solidFill>
                <a:latin typeface="Calibri"/>
              </a:rPr>
              <a:t>-  Real-time scoring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65176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6075"/>
                </a:solidFill>
                <a:latin typeface="Calibri"/>
              </a:rPr>
              <a:t>Wrap the same pipeline in a FastAPI service; the MCP server already shows the loading pattern.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24612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440"/>
                </a:solidFill>
                <a:latin typeface="Calibri"/>
              </a:rPr>
              <a:t>-  Fairness + adverse-action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611879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6075"/>
                </a:solidFill>
                <a:latin typeface="Calibri"/>
              </a:rPr>
              <a:t>Disparate-impact metrics by protected group + per-prediction reason codes for compliant denial letters.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20624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440"/>
                </a:solidFill>
                <a:latin typeface="Calibri"/>
              </a:rPr>
              <a:t>-  Retraining cadence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57200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6075"/>
                </a:solidFill>
                <a:latin typeface="Calibri"/>
              </a:rPr>
              <a:t>Quarterly re-fit on the latest closed cohort; alarm on AUC drift &gt; 0.02.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16636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440"/>
                </a:solidFill>
                <a:latin typeface="Calibri"/>
              </a:rPr>
              <a:t>-  More macro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553212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6075"/>
                </a:solidFill>
                <a:latin typeface="Calibri"/>
              </a:rPr>
              <a:t>FRED unemployment is one series; rates, housing, and consumer sentiment likely add lift.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47104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6075"/>
                </a:solidFill>
                <a:latin typeface="Calibri"/>
              </a:rPr>
              <a:t>EAS 587 Phase 4  -  Lending Club Loan Default Prediction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54710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56075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9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9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E89E2C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404 Team Not Found  -  Aayush Nepal | Junwei Zhang | Lusi Zhang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1480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1B3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251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9E2C"/>
                </a:solidFill>
                <a:latin typeface="Calibri"/>
              </a:rPr>
              <a:t>WHAT WE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66344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End-to-end loan default predictor: pandas pipeline, Spark medallion, MCP server, Streamlit 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411480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1B3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4251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9E2C"/>
                </a:solidFill>
                <a:latin typeface="Calibri"/>
              </a:rPr>
              <a:t>HEADLINE 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466344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AUC-ROC 0.726 on 314k held-out 2017 loans -- never seen during training or tuning.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11480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1B3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4251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9E2C"/>
                </a:solidFill>
                <a:latin typeface="Calibri"/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466344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same model is reachable two ways: a visual UI for analysts, a conversational tool for everyone else.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FB3D1"/>
                </a:solidFill>
                <a:latin typeface="Calibri"/>
              </a:rPr>
              <a:t>Repository: github.com/Aayushnepal09/Eas587_project    |    EAS 587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